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037" y="1248013"/>
            <a:ext cx="7415927" cy="42586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8384"/>
              </a:lnSpc>
              <a:buNone/>
            </a:pPr>
            <a:r>
              <a:rPr lang="en-US" sz="6707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Exploring National Parks: A Roadtrip Adventure</a:t>
            </a:r>
            <a:endParaRPr lang="en-US" sz="6707" dirty="0"/>
          </a:p>
        </p:txBody>
      </p:sp>
      <p:sp>
        <p:nvSpPr>
          <p:cNvPr id="6" name="Text 3"/>
          <p:cNvSpPr/>
          <p:nvPr/>
        </p:nvSpPr>
        <p:spPr>
          <a:xfrm>
            <a:off x="864037" y="5876925"/>
            <a:ext cx="74159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Rasila, Pratistha, Adarsh and Afia </a:t>
            </a:r>
            <a:endParaRPr lang="en-US" sz="1944" dirty="0"/>
          </a:p>
        </p:txBody>
      </p:sp>
      <p:sp>
        <p:nvSpPr>
          <p:cNvPr id="7" name="Shape 4"/>
          <p:cNvSpPr/>
          <p:nvPr/>
        </p:nvSpPr>
        <p:spPr>
          <a:xfrm>
            <a:off x="864037" y="6568083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57" y="6575703"/>
            <a:ext cx="379690" cy="3796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82316" y="6549628"/>
            <a:ext cx="2190155" cy="4319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243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Rasila  Thapa</a:t>
            </a:r>
            <a:endParaRPr lang="en-US" sz="2430" dirty="0"/>
          </a:p>
        </p:txBody>
      </p:sp>
      <p:pic>
        <p:nvPicPr>
          <p:cNvPr id="10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2047161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6075"/>
              </a:lnSpc>
              <a:buNone/>
            </a:pPr>
            <a:r>
              <a:rPr lang="en-US" sz="486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</a:t>
            </a:r>
            <a:endParaRPr lang="en-US" sz="4860" dirty="0"/>
          </a:p>
        </p:txBody>
      </p:sp>
      <p:sp>
        <p:nvSpPr>
          <p:cNvPr id="5" name="Shape 3"/>
          <p:cNvSpPr/>
          <p:nvPr/>
        </p:nvSpPr>
        <p:spPr>
          <a:xfrm>
            <a:off x="864037" y="3188970"/>
            <a:ext cx="4136231" cy="2993469"/>
          </a:xfrm>
          <a:prstGeom prst="roundRect">
            <a:avLst>
              <a:gd name="adj" fmla="val 4949"/>
            </a:avLst>
          </a:prstGeom>
          <a:solidFill>
            <a:srgbClr val="DEE7F7"/>
          </a:solidFill>
          <a:ln/>
        </p:spPr>
      </p:sp>
      <p:sp>
        <p:nvSpPr>
          <p:cNvPr id="6" name="Text 4"/>
          <p:cNvSpPr/>
          <p:nvPr/>
        </p:nvSpPr>
        <p:spPr>
          <a:xfrm>
            <a:off x="1110853" y="3435787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Cost-Effective</a:t>
            </a:r>
            <a:endParaRPr lang="en-US" sz="2430" dirty="0"/>
          </a:p>
        </p:txBody>
      </p:sp>
      <p:sp>
        <p:nvSpPr>
          <p:cNvPr id="7" name="Text 5"/>
          <p:cNvSpPr/>
          <p:nvPr/>
        </p:nvSpPr>
        <p:spPr>
          <a:xfrm>
            <a:off x="1110853" y="3969663"/>
            <a:ext cx="3642598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a budget-friendly road trip to based on your requirement.</a:t>
            </a:r>
            <a:endParaRPr lang="en-US" sz="1944" dirty="0"/>
          </a:p>
        </p:txBody>
      </p:sp>
      <p:sp>
        <p:nvSpPr>
          <p:cNvPr id="8" name="Shape 6"/>
          <p:cNvSpPr/>
          <p:nvPr/>
        </p:nvSpPr>
        <p:spPr>
          <a:xfrm>
            <a:off x="5247084" y="3188970"/>
            <a:ext cx="4136231" cy="2993469"/>
          </a:xfrm>
          <a:prstGeom prst="roundRect">
            <a:avLst>
              <a:gd name="adj" fmla="val 4949"/>
            </a:avLst>
          </a:prstGeom>
          <a:solidFill>
            <a:srgbClr val="DEE7F7"/>
          </a:solidFill>
          <a:ln/>
        </p:spPr>
      </p:sp>
      <p:sp>
        <p:nvSpPr>
          <p:cNvPr id="9" name="Text 7"/>
          <p:cNvSpPr/>
          <p:nvPr/>
        </p:nvSpPr>
        <p:spPr>
          <a:xfrm>
            <a:off x="5493901" y="3435787"/>
            <a:ext cx="3128605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Enjoyable Experience</a:t>
            </a:r>
            <a:endParaRPr lang="en-US" sz="2430" dirty="0"/>
          </a:p>
        </p:txBody>
      </p:sp>
      <p:sp>
        <p:nvSpPr>
          <p:cNvPr id="10" name="Text 8"/>
          <p:cNvSpPr/>
          <p:nvPr/>
        </p:nvSpPr>
        <p:spPr>
          <a:xfrm>
            <a:off x="5493901" y="3969663"/>
            <a:ext cx="364259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the trip is filled with memorable activities and stunning natural wonders.</a:t>
            </a:r>
            <a:endParaRPr lang="en-US" sz="1944" dirty="0"/>
          </a:p>
        </p:txBody>
      </p:sp>
      <p:sp>
        <p:nvSpPr>
          <p:cNvPr id="11" name="Shape 9"/>
          <p:cNvSpPr/>
          <p:nvPr/>
        </p:nvSpPr>
        <p:spPr>
          <a:xfrm>
            <a:off x="9630132" y="3188970"/>
            <a:ext cx="4136231" cy="2993469"/>
          </a:xfrm>
          <a:prstGeom prst="roundRect">
            <a:avLst>
              <a:gd name="adj" fmla="val 4949"/>
            </a:avLst>
          </a:prstGeom>
          <a:solidFill>
            <a:srgbClr val="DEE7F7"/>
          </a:solidFill>
          <a:ln/>
        </p:spPr>
      </p:sp>
      <p:sp>
        <p:nvSpPr>
          <p:cNvPr id="12" name="Text 10"/>
          <p:cNvSpPr/>
          <p:nvPr/>
        </p:nvSpPr>
        <p:spPr>
          <a:xfrm>
            <a:off x="9876949" y="3435787"/>
            <a:ext cx="3642598" cy="771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Comprehensive Planning</a:t>
            </a:r>
            <a:endParaRPr lang="en-US" sz="2430" dirty="0"/>
          </a:p>
        </p:txBody>
      </p:sp>
      <p:sp>
        <p:nvSpPr>
          <p:cNvPr id="13" name="Text 11"/>
          <p:cNvSpPr/>
          <p:nvPr/>
        </p:nvSpPr>
        <p:spPr>
          <a:xfrm>
            <a:off x="9876949" y="4355425"/>
            <a:ext cx="3642598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 for travel expenses mainly gas and weather conditions to optimize the itinerary.</a:t>
            </a:r>
            <a:endParaRPr lang="en-US" sz="1944" dirty="0"/>
          </a:p>
        </p:txBody>
      </p:sp>
      <p:pic>
        <p:nvPicPr>
          <p:cNvPr id="1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2212300"/>
            <a:ext cx="129023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6075"/>
              </a:lnSpc>
              <a:buNone/>
            </a:pPr>
            <a:r>
              <a:rPr lang="en-US" sz="486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Consideration of Gas Expenses and Weather Conditions</a:t>
            </a:r>
            <a:endParaRPr lang="en-US" sz="4860" dirty="0"/>
          </a:p>
        </p:txBody>
      </p:sp>
      <p:sp>
        <p:nvSpPr>
          <p:cNvPr id="5" name="Text 3"/>
          <p:cNvSpPr/>
          <p:nvPr/>
        </p:nvSpPr>
        <p:spPr>
          <a:xfrm>
            <a:off x="864037" y="4372451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Travel Expenses</a:t>
            </a:r>
            <a:endParaRPr lang="en-US" sz="2430" dirty="0"/>
          </a:p>
        </p:txBody>
      </p:sp>
      <p:sp>
        <p:nvSpPr>
          <p:cNvPr id="6" name="Text 4"/>
          <p:cNvSpPr/>
          <p:nvPr/>
        </p:nvSpPr>
        <p:spPr>
          <a:xfrm>
            <a:off x="864037" y="5005030"/>
            <a:ext cx="615005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Carefully budget for fuel to ensure a financially responsible trip.</a:t>
            </a:r>
            <a:endParaRPr lang="en-US" sz="1944" dirty="0"/>
          </a:p>
        </p:txBody>
      </p:sp>
      <p:sp>
        <p:nvSpPr>
          <p:cNvPr id="7" name="Text 5"/>
          <p:cNvSpPr/>
          <p:nvPr/>
        </p:nvSpPr>
        <p:spPr>
          <a:xfrm>
            <a:off x="7623929" y="4372451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Weather Conditions</a:t>
            </a:r>
            <a:endParaRPr lang="en-US" sz="2430" dirty="0"/>
          </a:p>
        </p:txBody>
      </p:sp>
      <p:sp>
        <p:nvSpPr>
          <p:cNvPr id="8" name="Text 6"/>
          <p:cNvSpPr/>
          <p:nvPr/>
        </p:nvSpPr>
        <p:spPr>
          <a:xfrm>
            <a:off x="7623929" y="5005030"/>
            <a:ext cx="615005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weather data to plan activities and packing your essentials.</a:t>
            </a:r>
            <a:endParaRPr lang="en-US" sz="1944" dirty="0"/>
          </a:p>
        </p:txBody>
      </p:sp>
      <p:pic>
        <p:nvPicPr>
          <p:cNvPr id="9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2348032"/>
            <a:ext cx="6941344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6075"/>
              </a:lnSpc>
              <a:buNone/>
            </a:pPr>
            <a:r>
              <a:rPr lang="en-US" sz="486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Importance of Planning</a:t>
            </a:r>
            <a:endParaRPr lang="en-US" sz="4860" dirty="0"/>
          </a:p>
        </p:txBody>
      </p:sp>
      <p:sp>
        <p:nvSpPr>
          <p:cNvPr id="5" name="Shape 3"/>
          <p:cNvSpPr/>
          <p:nvPr/>
        </p:nvSpPr>
        <p:spPr>
          <a:xfrm>
            <a:off x="864037" y="3767495"/>
            <a:ext cx="555427" cy="555427"/>
          </a:xfrm>
          <a:prstGeom prst="roundRect">
            <a:avLst>
              <a:gd name="adj" fmla="val 26670"/>
            </a:avLst>
          </a:prstGeom>
          <a:solidFill>
            <a:srgbClr val="DEE7F7"/>
          </a:solidFill>
          <a:ln/>
        </p:spPr>
      </p:sp>
      <p:sp>
        <p:nvSpPr>
          <p:cNvPr id="6" name="Text 4"/>
          <p:cNvSpPr/>
          <p:nvPr/>
        </p:nvSpPr>
        <p:spPr>
          <a:xfrm>
            <a:off x="1065371" y="3860006"/>
            <a:ext cx="152638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916"/>
              </a:lnSpc>
              <a:buNone/>
            </a:pPr>
            <a:r>
              <a:rPr lang="en-US" sz="2916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916" dirty="0"/>
          </a:p>
        </p:txBody>
      </p:sp>
      <p:sp>
        <p:nvSpPr>
          <p:cNvPr id="7" name="Text 5"/>
          <p:cNvSpPr/>
          <p:nvPr/>
        </p:nvSpPr>
        <p:spPr>
          <a:xfrm>
            <a:off x="1666280" y="3767495"/>
            <a:ext cx="316992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Maximize Experience</a:t>
            </a:r>
            <a:endParaRPr lang="en-US" sz="2430" dirty="0"/>
          </a:p>
        </p:txBody>
      </p:sp>
      <p:sp>
        <p:nvSpPr>
          <p:cNvPr id="8" name="Text 6"/>
          <p:cNvSpPr/>
          <p:nvPr/>
        </p:nvSpPr>
        <p:spPr>
          <a:xfrm>
            <a:off x="1666280" y="4301371"/>
            <a:ext cx="3333988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Thoughtful planning ensures you can fully immerse yourself in the natural wonders of the parks.</a:t>
            </a:r>
            <a:endParaRPr lang="en-US" sz="1944" dirty="0"/>
          </a:p>
        </p:txBody>
      </p:sp>
      <p:sp>
        <p:nvSpPr>
          <p:cNvPr id="9" name="Shape 7"/>
          <p:cNvSpPr/>
          <p:nvPr/>
        </p:nvSpPr>
        <p:spPr>
          <a:xfrm>
            <a:off x="5247084" y="3767495"/>
            <a:ext cx="555427" cy="555427"/>
          </a:xfrm>
          <a:prstGeom prst="roundRect">
            <a:avLst>
              <a:gd name="adj" fmla="val 26670"/>
            </a:avLst>
          </a:prstGeom>
          <a:solidFill>
            <a:srgbClr val="DEE7F7"/>
          </a:solidFill>
          <a:ln/>
        </p:spPr>
      </p:sp>
      <p:sp>
        <p:nvSpPr>
          <p:cNvPr id="10" name="Text 8"/>
          <p:cNvSpPr/>
          <p:nvPr/>
        </p:nvSpPr>
        <p:spPr>
          <a:xfrm>
            <a:off x="5422463" y="3860006"/>
            <a:ext cx="204549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916"/>
              </a:lnSpc>
              <a:buNone/>
            </a:pPr>
            <a:r>
              <a:rPr lang="en-US" sz="2916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916" dirty="0"/>
          </a:p>
        </p:txBody>
      </p:sp>
      <p:sp>
        <p:nvSpPr>
          <p:cNvPr id="11" name="Text 9"/>
          <p:cNvSpPr/>
          <p:nvPr/>
        </p:nvSpPr>
        <p:spPr>
          <a:xfrm>
            <a:off x="6049328" y="3767495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Mitigate Risks</a:t>
            </a:r>
            <a:endParaRPr lang="en-US" sz="2430" dirty="0"/>
          </a:p>
        </p:txBody>
      </p:sp>
      <p:sp>
        <p:nvSpPr>
          <p:cNvPr id="12" name="Text 10"/>
          <p:cNvSpPr/>
          <p:nvPr/>
        </p:nvSpPr>
        <p:spPr>
          <a:xfrm>
            <a:off x="6049328" y="4301371"/>
            <a:ext cx="3333988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Looking at past weather data allows you to understand the trend and prepare accordingly to overcome any risks.</a:t>
            </a:r>
            <a:endParaRPr lang="en-US" sz="1944" dirty="0"/>
          </a:p>
        </p:txBody>
      </p:sp>
      <p:sp>
        <p:nvSpPr>
          <p:cNvPr id="13" name="Shape 11"/>
          <p:cNvSpPr/>
          <p:nvPr/>
        </p:nvSpPr>
        <p:spPr>
          <a:xfrm>
            <a:off x="9630132" y="3767495"/>
            <a:ext cx="555427" cy="555427"/>
          </a:xfrm>
          <a:prstGeom prst="roundRect">
            <a:avLst>
              <a:gd name="adj" fmla="val 26670"/>
            </a:avLst>
          </a:prstGeom>
          <a:solidFill>
            <a:srgbClr val="DEE7F7"/>
          </a:solidFill>
          <a:ln/>
        </p:spPr>
      </p:sp>
      <p:sp>
        <p:nvSpPr>
          <p:cNvPr id="14" name="Text 12"/>
          <p:cNvSpPr/>
          <p:nvPr/>
        </p:nvSpPr>
        <p:spPr>
          <a:xfrm>
            <a:off x="9807773" y="3860006"/>
            <a:ext cx="200025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916"/>
              </a:lnSpc>
              <a:buNone/>
            </a:pPr>
            <a:r>
              <a:rPr lang="en-US" sz="2916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916" dirty="0"/>
          </a:p>
        </p:txBody>
      </p:sp>
      <p:sp>
        <p:nvSpPr>
          <p:cNvPr id="15" name="Text 13"/>
          <p:cNvSpPr/>
          <p:nvPr/>
        </p:nvSpPr>
        <p:spPr>
          <a:xfrm>
            <a:off x="10432375" y="3767495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Effective Budgeting</a:t>
            </a:r>
            <a:endParaRPr lang="en-US" sz="2430" dirty="0"/>
          </a:p>
        </p:txBody>
      </p:sp>
      <p:sp>
        <p:nvSpPr>
          <p:cNvPr id="16" name="Text 14"/>
          <p:cNvSpPr/>
          <p:nvPr/>
        </p:nvSpPr>
        <p:spPr>
          <a:xfrm>
            <a:off x="10432375" y="4301371"/>
            <a:ext cx="3333988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well-planned itinerary helps you manage costs and allocate resources efficiently.</a:t>
            </a:r>
            <a:endParaRPr lang="en-US" sz="1944" dirty="0"/>
          </a:p>
        </p:txBody>
      </p:sp>
      <p:pic>
        <p:nvPicPr>
          <p:cNvPr id="17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41772" y="653415"/>
            <a:ext cx="5925264" cy="7406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832"/>
              </a:lnSpc>
              <a:buNone/>
            </a:pPr>
            <a:r>
              <a:rPr lang="en-US" sz="4666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Components</a:t>
            </a:r>
            <a:endParaRPr lang="en-US" sz="4666" dirty="0"/>
          </a:p>
        </p:txBody>
      </p:sp>
      <p:sp>
        <p:nvSpPr>
          <p:cNvPr id="5" name="Shape 3"/>
          <p:cNvSpPr/>
          <p:nvPr/>
        </p:nvSpPr>
        <p:spPr>
          <a:xfrm>
            <a:off x="1173480" y="1868091"/>
            <a:ext cx="47387" cy="5708094"/>
          </a:xfrm>
          <a:prstGeom prst="rect">
            <a:avLst/>
          </a:prstGeom>
          <a:solidFill>
            <a:srgbClr val="BBC4DC"/>
          </a:solidFill>
          <a:ln/>
        </p:spPr>
      </p:sp>
      <p:sp>
        <p:nvSpPr>
          <p:cNvPr id="6" name="Shape 4"/>
          <p:cNvSpPr/>
          <p:nvPr/>
        </p:nvSpPr>
        <p:spPr>
          <a:xfrm>
            <a:off x="1463754" y="2377559"/>
            <a:ext cx="829508" cy="47387"/>
          </a:xfrm>
          <a:prstGeom prst="rect">
            <a:avLst/>
          </a:prstGeom>
          <a:solidFill>
            <a:srgbClr val="BBC4DC"/>
          </a:solidFill>
          <a:ln/>
        </p:spPr>
      </p:sp>
      <p:sp>
        <p:nvSpPr>
          <p:cNvPr id="7" name="Shape 5"/>
          <p:cNvSpPr/>
          <p:nvPr/>
        </p:nvSpPr>
        <p:spPr>
          <a:xfrm>
            <a:off x="930592" y="2134672"/>
            <a:ext cx="533162" cy="533162"/>
          </a:xfrm>
          <a:prstGeom prst="roundRect">
            <a:avLst>
              <a:gd name="adj" fmla="val 26672"/>
            </a:avLst>
          </a:prstGeom>
          <a:solidFill>
            <a:srgbClr val="DEE7F7"/>
          </a:solidFill>
          <a:ln/>
        </p:spPr>
      </p:sp>
      <p:sp>
        <p:nvSpPr>
          <p:cNvPr id="8" name="Text 6"/>
          <p:cNvSpPr/>
          <p:nvPr/>
        </p:nvSpPr>
        <p:spPr>
          <a:xfrm>
            <a:off x="1123831" y="2223492"/>
            <a:ext cx="146566" cy="35552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799"/>
              </a:lnSpc>
              <a:buNone/>
            </a:pPr>
            <a:r>
              <a:rPr lang="en-US" sz="2799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799" dirty="0"/>
          </a:p>
        </p:txBody>
      </p:sp>
      <p:sp>
        <p:nvSpPr>
          <p:cNvPr id="9" name="Text 7"/>
          <p:cNvSpPr/>
          <p:nvPr/>
        </p:nvSpPr>
        <p:spPr>
          <a:xfrm>
            <a:off x="2500670" y="2105025"/>
            <a:ext cx="2962632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333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Collection</a:t>
            </a:r>
            <a:endParaRPr lang="en-US" sz="2333" dirty="0"/>
          </a:p>
        </p:txBody>
      </p:sp>
      <p:sp>
        <p:nvSpPr>
          <p:cNvPr id="10" name="Text 8"/>
          <p:cNvSpPr/>
          <p:nvPr/>
        </p:nvSpPr>
        <p:spPr>
          <a:xfrm>
            <a:off x="2500670" y="2617470"/>
            <a:ext cx="11287839" cy="758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986"/>
              </a:lnSpc>
              <a:buNone/>
            </a:pPr>
            <a:r>
              <a:rPr lang="en-US" sz="1866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Gather crucial information on gas prices, park distances, and daily temperature data. Build a comprehensive dataset for informed decisions.</a:t>
            </a:r>
            <a:endParaRPr lang="en-US" sz="1866" dirty="0"/>
          </a:p>
        </p:txBody>
      </p:sp>
      <p:sp>
        <p:nvSpPr>
          <p:cNvPr id="11" name="Shape 9"/>
          <p:cNvSpPr/>
          <p:nvPr/>
        </p:nvSpPr>
        <p:spPr>
          <a:xfrm>
            <a:off x="1463754" y="4359235"/>
            <a:ext cx="829508" cy="47387"/>
          </a:xfrm>
          <a:prstGeom prst="rect">
            <a:avLst/>
          </a:prstGeom>
          <a:solidFill>
            <a:srgbClr val="BBC4DC"/>
          </a:solidFill>
          <a:ln/>
        </p:spPr>
      </p:sp>
      <p:sp>
        <p:nvSpPr>
          <p:cNvPr id="12" name="Shape 10"/>
          <p:cNvSpPr/>
          <p:nvPr/>
        </p:nvSpPr>
        <p:spPr>
          <a:xfrm>
            <a:off x="930592" y="4116348"/>
            <a:ext cx="533162" cy="533162"/>
          </a:xfrm>
          <a:prstGeom prst="roundRect">
            <a:avLst>
              <a:gd name="adj" fmla="val 26672"/>
            </a:avLst>
          </a:prstGeom>
          <a:solidFill>
            <a:srgbClr val="DEE7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8947" y="4205168"/>
            <a:ext cx="196334" cy="35552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799"/>
              </a:lnSpc>
              <a:buNone/>
            </a:pPr>
            <a:r>
              <a:rPr lang="en-US" sz="2799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799" dirty="0"/>
          </a:p>
        </p:txBody>
      </p:sp>
      <p:sp>
        <p:nvSpPr>
          <p:cNvPr id="14" name="Text 12"/>
          <p:cNvSpPr/>
          <p:nvPr/>
        </p:nvSpPr>
        <p:spPr>
          <a:xfrm>
            <a:off x="2500670" y="4086701"/>
            <a:ext cx="2962632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333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Calculations</a:t>
            </a:r>
            <a:endParaRPr lang="en-US" sz="2333" dirty="0"/>
          </a:p>
        </p:txBody>
      </p:sp>
      <p:sp>
        <p:nvSpPr>
          <p:cNvPr id="15" name="Text 13"/>
          <p:cNvSpPr/>
          <p:nvPr/>
        </p:nvSpPr>
        <p:spPr>
          <a:xfrm>
            <a:off x="2500670" y="4599146"/>
            <a:ext cx="11287839" cy="758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986"/>
              </a:lnSpc>
              <a:buNone/>
            </a:pPr>
            <a:r>
              <a:rPr lang="en-US" sz="1866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Crunch the numbers for fuel costs, total trip expenses, and temperature ranges. Use vehicle MPG for accurate fuel estimates.</a:t>
            </a:r>
            <a:endParaRPr lang="en-US" sz="1866" dirty="0"/>
          </a:p>
        </p:txBody>
      </p:sp>
      <p:sp>
        <p:nvSpPr>
          <p:cNvPr id="16" name="Shape 14"/>
          <p:cNvSpPr/>
          <p:nvPr/>
        </p:nvSpPr>
        <p:spPr>
          <a:xfrm>
            <a:off x="1463754" y="6340912"/>
            <a:ext cx="829508" cy="47387"/>
          </a:xfrm>
          <a:prstGeom prst="rect">
            <a:avLst/>
          </a:prstGeom>
          <a:solidFill>
            <a:srgbClr val="BBC4DC"/>
          </a:solidFill>
          <a:ln/>
        </p:spPr>
      </p:sp>
      <p:sp>
        <p:nvSpPr>
          <p:cNvPr id="17" name="Shape 15"/>
          <p:cNvSpPr/>
          <p:nvPr/>
        </p:nvSpPr>
        <p:spPr>
          <a:xfrm>
            <a:off x="930592" y="6098024"/>
            <a:ext cx="533162" cy="533162"/>
          </a:xfrm>
          <a:prstGeom prst="roundRect">
            <a:avLst>
              <a:gd name="adj" fmla="val 26672"/>
            </a:avLst>
          </a:prstGeom>
          <a:solidFill>
            <a:srgbClr val="DEE7F7"/>
          </a:solidFill>
          <a:ln/>
        </p:spPr>
      </p:sp>
      <p:sp>
        <p:nvSpPr>
          <p:cNvPr id="18" name="Text 16"/>
          <p:cNvSpPr/>
          <p:nvPr/>
        </p:nvSpPr>
        <p:spPr>
          <a:xfrm>
            <a:off x="1101090" y="6186845"/>
            <a:ext cx="192048" cy="35552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799"/>
              </a:lnSpc>
              <a:buNone/>
            </a:pPr>
            <a:r>
              <a:rPr lang="en-US" sz="2799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799" dirty="0"/>
          </a:p>
        </p:txBody>
      </p:sp>
      <p:sp>
        <p:nvSpPr>
          <p:cNvPr id="19" name="Text 17"/>
          <p:cNvSpPr/>
          <p:nvPr/>
        </p:nvSpPr>
        <p:spPr>
          <a:xfrm>
            <a:off x="2500670" y="6068378"/>
            <a:ext cx="2962632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916"/>
              </a:lnSpc>
              <a:buNone/>
            </a:pPr>
            <a:r>
              <a:rPr lang="en-US" sz="2333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Analysis</a:t>
            </a:r>
            <a:endParaRPr lang="en-US" sz="2333" dirty="0"/>
          </a:p>
        </p:txBody>
      </p:sp>
      <p:sp>
        <p:nvSpPr>
          <p:cNvPr id="20" name="Text 18"/>
          <p:cNvSpPr/>
          <p:nvPr/>
        </p:nvSpPr>
        <p:spPr>
          <a:xfrm>
            <a:off x="2500670" y="6580823"/>
            <a:ext cx="11287839" cy="758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986"/>
              </a:lnSpc>
              <a:buNone/>
            </a:pPr>
            <a:r>
              <a:rPr lang="en-US" sz="1866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 the data to determine optimal travel dates, budget allocation, and route planning. Ensure a balanced and enjoyable trip.</a:t>
            </a:r>
            <a:endParaRPr lang="en-US" sz="1866" dirty="0"/>
          </a:p>
        </p:txBody>
      </p:sp>
      <p:pic>
        <p:nvPicPr>
          <p:cNvPr id="2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1755696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6075"/>
              </a:lnSpc>
              <a:buNone/>
            </a:pPr>
            <a:r>
              <a:rPr lang="en-US" sz="486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Collection</a:t>
            </a:r>
            <a:endParaRPr lang="en-US" sz="4860" dirty="0"/>
          </a:p>
        </p:txBody>
      </p:sp>
      <p:sp>
        <p:nvSpPr>
          <p:cNvPr id="5" name="Shape 3"/>
          <p:cNvSpPr/>
          <p:nvPr/>
        </p:nvSpPr>
        <p:spPr>
          <a:xfrm>
            <a:off x="864037" y="3020973"/>
            <a:ext cx="12902327" cy="1249680"/>
          </a:xfrm>
          <a:prstGeom prst="rect">
            <a:avLst/>
          </a:prstGeom>
          <a:solidFill>
            <a:srgbClr val="DEE7F7"/>
          </a:solidFill>
          <a:ln/>
        </p:spPr>
      </p:sp>
      <p:sp>
        <p:nvSpPr>
          <p:cNvPr id="6" name="Text 4"/>
          <p:cNvSpPr/>
          <p:nvPr/>
        </p:nvSpPr>
        <p:spPr>
          <a:xfrm>
            <a:off x="1110853" y="3176707"/>
            <a:ext cx="595372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Gas Prices</a:t>
            </a:r>
            <a:endParaRPr lang="en-US" sz="1944" dirty="0"/>
          </a:p>
        </p:txBody>
      </p:sp>
      <p:sp>
        <p:nvSpPr>
          <p:cNvPr id="7" name="Text 5"/>
          <p:cNvSpPr/>
          <p:nvPr/>
        </p:nvSpPr>
        <p:spPr>
          <a:xfrm>
            <a:off x="7565827" y="3176707"/>
            <a:ext cx="595372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CSV files with pricing information. </a:t>
            </a:r>
            <a:endParaRPr lang="en-US" sz="1944" dirty="0"/>
          </a:p>
        </p:txBody>
      </p:sp>
      <p:sp>
        <p:nvSpPr>
          <p:cNvPr id="8" name="Text 6"/>
          <p:cNvSpPr/>
          <p:nvPr/>
        </p:nvSpPr>
        <p:spPr>
          <a:xfrm>
            <a:off x="7565827" y="3719870"/>
            <a:ext cx="595372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9" name="Text 7"/>
          <p:cNvSpPr/>
          <p:nvPr/>
        </p:nvSpPr>
        <p:spPr>
          <a:xfrm>
            <a:off x="1110853" y="4426387"/>
            <a:ext cx="595372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Distances</a:t>
            </a:r>
            <a:endParaRPr lang="en-US" sz="1944" dirty="0"/>
          </a:p>
        </p:txBody>
      </p:sp>
      <p:sp>
        <p:nvSpPr>
          <p:cNvPr id="10" name="Text 8"/>
          <p:cNvSpPr/>
          <p:nvPr/>
        </p:nvSpPr>
        <p:spPr>
          <a:xfrm>
            <a:off x="7565827" y="4426387"/>
            <a:ext cx="5953720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 file containing inter-park distances for route planning </a:t>
            </a:r>
            <a:endParaRPr lang="en-US" sz="1944" dirty="0"/>
          </a:p>
        </p:txBody>
      </p:sp>
      <p:sp>
        <p:nvSpPr>
          <p:cNvPr id="11" name="Shape 9"/>
          <p:cNvSpPr/>
          <p:nvPr/>
        </p:nvSpPr>
        <p:spPr>
          <a:xfrm>
            <a:off x="864037" y="5372219"/>
            <a:ext cx="12902327" cy="1101566"/>
          </a:xfrm>
          <a:prstGeom prst="rect">
            <a:avLst/>
          </a:prstGeom>
          <a:solidFill>
            <a:srgbClr val="DEE7F7"/>
          </a:solidFill>
          <a:ln/>
        </p:spPr>
      </p:sp>
      <p:sp>
        <p:nvSpPr>
          <p:cNvPr id="12" name="Text 10"/>
          <p:cNvSpPr/>
          <p:nvPr/>
        </p:nvSpPr>
        <p:spPr>
          <a:xfrm>
            <a:off x="1110853" y="5527953"/>
            <a:ext cx="595372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Data</a:t>
            </a:r>
            <a:endParaRPr lang="en-US" sz="1944" dirty="0"/>
          </a:p>
        </p:txBody>
      </p:sp>
      <p:sp>
        <p:nvSpPr>
          <p:cNvPr id="13" name="Text 11"/>
          <p:cNvSpPr/>
          <p:nvPr/>
        </p:nvSpPr>
        <p:spPr>
          <a:xfrm>
            <a:off x="7565827" y="5527953"/>
            <a:ext cx="5953720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110"/>
              </a:lnSpc>
              <a:buNone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temperature CSV files for each national park based on last years data.</a:t>
            </a:r>
            <a:endParaRPr lang="en-US" sz="1944" dirty="0"/>
          </a:p>
        </p:txBody>
      </p:sp>
      <p:pic>
        <p:nvPicPr>
          <p:cNvPr id="1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780574"/>
            <a:ext cx="8819912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6075"/>
              </a:lnSpc>
              <a:buNone/>
            </a:pPr>
            <a:r>
              <a:rPr lang="en-US" sz="486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Inputs  and Assumptions</a:t>
            </a:r>
            <a:endParaRPr lang="en-US" sz="4860" dirty="0"/>
          </a:p>
        </p:txBody>
      </p:sp>
      <p:sp>
        <p:nvSpPr>
          <p:cNvPr id="5" name="Text 3"/>
          <p:cNvSpPr/>
          <p:nvPr/>
        </p:nvSpPr>
        <p:spPr>
          <a:xfrm>
            <a:off x="864037" y="2045851"/>
            <a:ext cx="129023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6" name="Text 4"/>
          <p:cNvSpPr/>
          <p:nvPr/>
        </p:nvSpPr>
        <p:spPr>
          <a:xfrm>
            <a:off x="864037" y="2965371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Inputs:</a:t>
            </a:r>
            <a:endParaRPr lang="en-US" sz="2430" dirty="0"/>
          </a:p>
        </p:txBody>
      </p:sp>
      <p:sp>
        <p:nvSpPr>
          <p:cNvPr id="7" name="Text 5"/>
          <p:cNvSpPr/>
          <p:nvPr/>
        </p:nvSpPr>
        <p:spPr>
          <a:xfrm>
            <a:off x="1258967" y="3597950"/>
            <a:ext cx="575512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Char char="•"/>
            </a:pPr>
            <a:r>
              <a:rPr lang="en-US" sz="1944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Travelers:</a:t>
            </a:r>
            <a:endParaRPr lang="en-US" sz="1944" dirty="0"/>
          </a:p>
        </p:txBody>
      </p:sp>
      <p:sp>
        <p:nvSpPr>
          <p:cNvPr id="8" name="Text 6"/>
          <p:cNvSpPr/>
          <p:nvPr/>
        </p:nvSpPr>
        <p:spPr>
          <a:xfrm>
            <a:off x="1654016" y="4079319"/>
            <a:ext cx="5360075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3110"/>
              </a:lnSpc>
              <a:buSzPct val="100000"/>
              <a:buChar char="•"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3</a:t>
            </a:r>
            <a:endParaRPr lang="en-US" sz="1944" dirty="0"/>
          </a:p>
        </p:txBody>
      </p:sp>
      <p:sp>
        <p:nvSpPr>
          <p:cNvPr id="9" name="Text 7"/>
          <p:cNvSpPr/>
          <p:nvPr/>
        </p:nvSpPr>
        <p:spPr>
          <a:xfrm>
            <a:off x="1258967" y="4560689"/>
            <a:ext cx="575512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Char char="•"/>
            </a:pPr>
            <a:r>
              <a:rPr lang="en-US" sz="1944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Travel Days:</a:t>
            </a:r>
            <a:endParaRPr lang="en-US" sz="1944" dirty="0"/>
          </a:p>
        </p:txBody>
      </p:sp>
      <p:sp>
        <p:nvSpPr>
          <p:cNvPr id="10" name="Text 8"/>
          <p:cNvSpPr/>
          <p:nvPr/>
        </p:nvSpPr>
        <p:spPr>
          <a:xfrm>
            <a:off x="1654016" y="5042059"/>
            <a:ext cx="5360075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3110"/>
              </a:lnSpc>
              <a:buSzPct val="100000"/>
              <a:buChar char="•"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2</a:t>
            </a:r>
            <a:endParaRPr lang="en-US" sz="1944" dirty="0"/>
          </a:p>
        </p:txBody>
      </p:sp>
      <p:sp>
        <p:nvSpPr>
          <p:cNvPr id="11" name="Text 9"/>
          <p:cNvSpPr/>
          <p:nvPr/>
        </p:nvSpPr>
        <p:spPr>
          <a:xfrm>
            <a:off x="1258967" y="5523428"/>
            <a:ext cx="575512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Char char="•"/>
            </a:pPr>
            <a:r>
              <a:rPr lang="en-US" sz="1944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Travel Date:</a:t>
            </a:r>
            <a:endParaRPr lang="en-US" sz="1944" dirty="0"/>
          </a:p>
        </p:txBody>
      </p:sp>
      <p:sp>
        <p:nvSpPr>
          <p:cNvPr id="12" name="Text 10"/>
          <p:cNvSpPr/>
          <p:nvPr/>
        </p:nvSpPr>
        <p:spPr>
          <a:xfrm>
            <a:off x="1654016" y="6004798"/>
            <a:ext cx="5360075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3110"/>
              </a:lnSpc>
              <a:buSzPct val="100000"/>
              <a:buChar char="•"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June 17</a:t>
            </a:r>
            <a:endParaRPr lang="en-US" sz="1944" dirty="0"/>
          </a:p>
        </p:txBody>
      </p:sp>
      <p:sp>
        <p:nvSpPr>
          <p:cNvPr id="13" name="Text 11"/>
          <p:cNvSpPr/>
          <p:nvPr/>
        </p:nvSpPr>
        <p:spPr>
          <a:xfrm>
            <a:off x="1258967" y="6486168"/>
            <a:ext cx="575512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Char char="•"/>
            </a:pPr>
            <a:r>
              <a:rPr lang="en-US" sz="1944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Car's MPG:</a:t>
            </a:r>
            <a:endParaRPr lang="en-US" sz="1944" dirty="0"/>
          </a:p>
        </p:txBody>
      </p:sp>
      <p:sp>
        <p:nvSpPr>
          <p:cNvPr id="14" name="Text 12"/>
          <p:cNvSpPr/>
          <p:nvPr/>
        </p:nvSpPr>
        <p:spPr>
          <a:xfrm>
            <a:off x="1654016" y="6967538"/>
            <a:ext cx="5360075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3110"/>
              </a:lnSpc>
              <a:buSzPct val="100000"/>
              <a:buChar char="•"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30 MPG</a:t>
            </a:r>
            <a:endParaRPr lang="en-US" sz="1944" dirty="0"/>
          </a:p>
        </p:txBody>
      </p:sp>
      <p:sp>
        <p:nvSpPr>
          <p:cNvPr id="15" name="Text 13"/>
          <p:cNvSpPr/>
          <p:nvPr/>
        </p:nvSpPr>
        <p:spPr>
          <a:xfrm>
            <a:off x="7623929" y="2965371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Assumptions:</a:t>
            </a:r>
            <a:endParaRPr lang="en-US" sz="2430" dirty="0"/>
          </a:p>
        </p:txBody>
      </p:sp>
      <p:sp>
        <p:nvSpPr>
          <p:cNvPr id="16" name="Text 14"/>
          <p:cNvSpPr/>
          <p:nvPr/>
        </p:nvSpPr>
        <p:spPr>
          <a:xfrm>
            <a:off x="8018859" y="3597950"/>
            <a:ext cx="575512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Char char="•"/>
            </a:pPr>
            <a:r>
              <a:rPr lang="en-US" sz="1944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Travel Distance:</a:t>
            </a:r>
            <a:endParaRPr lang="en-US" sz="1944" dirty="0"/>
          </a:p>
        </p:txBody>
      </p:sp>
      <p:sp>
        <p:nvSpPr>
          <p:cNvPr id="17" name="Text 15"/>
          <p:cNvSpPr/>
          <p:nvPr/>
        </p:nvSpPr>
        <p:spPr>
          <a:xfrm>
            <a:off x="8413909" y="4079319"/>
            <a:ext cx="5360075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3110"/>
              </a:lnSpc>
              <a:buSzPct val="100000"/>
              <a:buChar char="•"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0-500 miles per day.</a:t>
            </a:r>
            <a:endParaRPr lang="en-US" sz="1944" dirty="0"/>
          </a:p>
        </p:txBody>
      </p:sp>
      <p:sp>
        <p:nvSpPr>
          <p:cNvPr id="18" name="Text 16"/>
          <p:cNvSpPr/>
          <p:nvPr/>
        </p:nvSpPr>
        <p:spPr>
          <a:xfrm>
            <a:off x="8018859" y="4560689"/>
            <a:ext cx="575512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Char char="•"/>
            </a:pPr>
            <a:r>
              <a:rPr lang="en-US" sz="1944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Round Trip Calculation:</a:t>
            </a:r>
            <a:endParaRPr lang="en-US" sz="1944" dirty="0"/>
          </a:p>
        </p:txBody>
      </p:sp>
      <p:sp>
        <p:nvSpPr>
          <p:cNvPr id="19" name="Text 17"/>
          <p:cNvSpPr/>
          <p:nvPr/>
        </p:nvSpPr>
        <p:spPr>
          <a:xfrm>
            <a:off x="8413909" y="5042059"/>
            <a:ext cx="5360075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3110"/>
              </a:lnSpc>
              <a:buSzPct val="100000"/>
              <a:buChar char="•"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 from Fremont multiplied by 2 for return.</a:t>
            </a:r>
            <a:endParaRPr lang="en-US" sz="1944" dirty="0"/>
          </a:p>
        </p:txBody>
      </p:sp>
      <p:sp>
        <p:nvSpPr>
          <p:cNvPr id="20" name="Text 18"/>
          <p:cNvSpPr/>
          <p:nvPr/>
        </p:nvSpPr>
        <p:spPr>
          <a:xfrm>
            <a:off x="8018859" y="5523428"/>
            <a:ext cx="5755124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Char char="•"/>
            </a:pPr>
            <a:r>
              <a:rPr lang="en-US" sz="1944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Gas Price:</a:t>
            </a:r>
            <a:endParaRPr lang="en-US" sz="1944" dirty="0"/>
          </a:p>
        </p:txBody>
      </p:sp>
      <p:sp>
        <p:nvSpPr>
          <p:cNvPr id="21" name="Text 19"/>
          <p:cNvSpPr/>
          <p:nvPr/>
        </p:nvSpPr>
        <p:spPr>
          <a:xfrm>
            <a:off x="8413909" y="6004798"/>
            <a:ext cx="5360075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lvl="1" marL="685800" indent="-342900">
              <a:lnSpc>
                <a:spcPts val="3110"/>
              </a:lnSpc>
              <a:buSzPct val="100000"/>
              <a:buChar char="•"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$4.4 per gallon (June).</a:t>
            </a:r>
            <a:endParaRPr lang="en-US" sz="1944" dirty="0"/>
          </a:p>
        </p:txBody>
      </p:sp>
      <p:pic>
        <p:nvPicPr>
          <p:cNvPr id="2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48320" y="667345"/>
            <a:ext cx="7162086" cy="75747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5965"/>
              </a:lnSpc>
              <a:buNone/>
            </a:pPr>
            <a:r>
              <a:rPr lang="en-US" sz="4772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Calculation Methodology</a:t>
            </a:r>
            <a:endParaRPr lang="en-US" sz="4772" dirty="0"/>
          </a:p>
        </p:txBody>
      </p:sp>
      <p:sp>
        <p:nvSpPr>
          <p:cNvPr id="5" name="Shape 3"/>
          <p:cNvSpPr/>
          <p:nvPr/>
        </p:nvSpPr>
        <p:spPr>
          <a:xfrm>
            <a:off x="848320" y="1909524"/>
            <a:ext cx="6345793" cy="2705219"/>
          </a:xfrm>
          <a:prstGeom prst="roundRect">
            <a:avLst>
              <a:gd name="adj" fmla="val 5376"/>
            </a:avLst>
          </a:prstGeom>
          <a:solidFill>
            <a:srgbClr val="DEE7F7"/>
          </a:solidFill>
          <a:ln/>
        </p:spPr>
      </p:sp>
      <p:sp>
        <p:nvSpPr>
          <p:cNvPr id="6" name="Text 4"/>
          <p:cNvSpPr/>
          <p:nvPr/>
        </p:nvSpPr>
        <p:spPr>
          <a:xfrm>
            <a:off x="1090613" y="2151817"/>
            <a:ext cx="3723680" cy="3787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982"/>
              </a:lnSpc>
              <a:buNone/>
            </a:pPr>
            <a:r>
              <a:rPr lang="en-US" sz="2386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Round Trip Distance</a:t>
            </a:r>
            <a:endParaRPr lang="en-US" sz="2386" dirty="0"/>
          </a:p>
        </p:txBody>
      </p:sp>
      <p:sp>
        <p:nvSpPr>
          <p:cNvPr id="7" name="Text 5"/>
          <p:cNvSpPr/>
          <p:nvPr/>
        </p:nvSpPr>
        <p:spPr>
          <a:xfrm>
            <a:off x="1090613" y="2675930"/>
            <a:ext cx="5861209" cy="77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54"/>
              </a:lnSpc>
              <a:buNone/>
            </a:pPr>
            <a:r>
              <a:rPr lang="en-US" sz="1909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the total round trip distance by doubling the one-way mileage between destinations.</a:t>
            </a:r>
            <a:endParaRPr lang="en-US" sz="1909" dirty="0"/>
          </a:p>
        </p:txBody>
      </p:sp>
      <p:sp>
        <p:nvSpPr>
          <p:cNvPr id="8" name="Text 6"/>
          <p:cNvSpPr/>
          <p:nvPr/>
        </p:nvSpPr>
        <p:spPr>
          <a:xfrm>
            <a:off x="1090613" y="3596878"/>
            <a:ext cx="5861209" cy="3877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54"/>
              </a:lnSpc>
              <a:buNone/>
            </a:pPr>
            <a:r>
              <a:rPr lang="en-US" sz="1909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1000 miles (500 miles each way).</a:t>
            </a:r>
            <a:endParaRPr lang="en-US" sz="1909" dirty="0"/>
          </a:p>
        </p:txBody>
      </p:sp>
      <p:sp>
        <p:nvSpPr>
          <p:cNvPr id="9" name="Shape 7"/>
          <p:cNvSpPr/>
          <p:nvPr/>
        </p:nvSpPr>
        <p:spPr>
          <a:xfrm>
            <a:off x="7436406" y="1909524"/>
            <a:ext cx="6345793" cy="2705219"/>
          </a:xfrm>
          <a:prstGeom prst="roundRect">
            <a:avLst>
              <a:gd name="adj" fmla="val 5376"/>
            </a:avLst>
          </a:prstGeom>
          <a:solidFill>
            <a:srgbClr val="DEE7F7"/>
          </a:solidFill>
          <a:ln/>
        </p:spPr>
      </p:sp>
      <p:sp>
        <p:nvSpPr>
          <p:cNvPr id="10" name="Text 8"/>
          <p:cNvSpPr/>
          <p:nvPr/>
        </p:nvSpPr>
        <p:spPr>
          <a:xfrm>
            <a:off x="7678698" y="2151817"/>
            <a:ext cx="3029903" cy="3787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982"/>
              </a:lnSpc>
              <a:buNone/>
            </a:pPr>
            <a:r>
              <a:rPr lang="en-US" sz="2386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Fuel Efficiency</a:t>
            </a:r>
            <a:endParaRPr lang="en-US" sz="2386" dirty="0"/>
          </a:p>
        </p:txBody>
      </p:sp>
      <p:sp>
        <p:nvSpPr>
          <p:cNvPr id="11" name="Text 9"/>
          <p:cNvSpPr/>
          <p:nvPr/>
        </p:nvSpPr>
        <p:spPr>
          <a:xfrm>
            <a:off x="7678698" y="2675930"/>
            <a:ext cx="5861209" cy="116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54"/>
              </a:lnSpc>
              <a:buNone/>
            </a:pPr>
            <a:r>
              <a:rPr lang="en-US" sz="1909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Determine the fuel efficiency of the vehicle in miles per gallon (MPG) to estimate the total gallons required.</a:t>
            </a:r>
            <a:endParaRPr lang="en-US" sz="1909" dirty="0"/>
          </a:p>
        </p:txBody>
      </p:sp>
      <p:sp>
        <p:nvSpPr>
          <p:cNvPr id="12" name="Text 10"/>
          <p:cNvSpPr/>
          <p:nvPr/>
        </p:nvSpPr>
        <p:spPr>
          <a:xfrm>
            <a:off x="7678698" y="3984665"/>
            <a:ext cx="5861209" cy="3877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54"/>
              </a:lnSpc>
              <a:buNone/>
            </a:pPr>
            <a:r>
              <a:rPr lang="en-US" sz="1909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30 MPG.</a:t>
            </a:r>
            <a:endParaRPr lang="en-US" sz="1909" dirty="0"/>
          </a:p>
        </p:txBody>
      </p:sp>
      <p:sp>
        <p:nvSpPr>
          <p:cNvPr id="13" name="Shape 11"/>
          <p:cNvSpPr/>
          <p:nvPr/>
        </p:nvSpPr>
        <p:spPr>
          <a:xfrm>
            <a:off x="848320" y="4857036"/>
            <a:ext cx="6345793" cy="2705219"/>
          </a:xfrm>
          <a:prstGeom prst="roundRect">
            <a:avLst>
              <a:gd name="adj" fmla="val 5376"/>
            </a:avLst>
          </a:prstGeom>
          <a:solidFill>
            <a:srgbClr val="DEE7F7"/>
          </a:solidFill>
          <a:ln/>
        </p:spPr>
      </p:sp>
      <p:sp>
        <p:nvSpPr>
          <p:cNvPr id="14" name="Text 12"/>
          <p:cNvSpPr/>
          <p:nvPr/>
        </p:nvSpPr>
        <p:spPr>
          <a:xfrm>
            <a:off x="1090613" y="5099328"/>
            <a:ext cx="3029903" cy="3787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982"/>
              </a:lnSpc>
              <a:buNone/>
            </a:pPr>
            <a:r>
              <a:rPr lang="en-US" sz="2386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Fuel Cost</a:t>
            </a:r>
            <a:endParaRPr lang="en-US" sz="2386" dirty="0"/>
          </a:p>
        </p:txBody>
      </p:sp>
      <p:sp>
        <p:nvSpPr>
          <p:cNvPr id="15" name="Text 13"/>
          <p:cNvSpPr/>
          <p:nvPr/>
        </p:nvSpPr>
        <p:spPr>
          <a:xfrm>
            <a:off x="1090613" y="5623441"/>
            <a:ext cx="5861209" cy="77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54"/>
              </a:lnSpc>
              <a:buNone/>
            </a:pPr>
            <a:r>
              <a:rPr lang="en-US" sz="1909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Multiply the total gallons required by the current gas price to calculate the total fuel cost for the trip.</a:t>
            </a:r>
            <a:endParaRPr lang="en-US" sz="1909" dirty="0"/>
          </a:p>
        </p:txBody>
      </p:sp>
      <p:sp>
        <p:nvSpPr>
          <p:cNvPr id="16" name="Text 14"/>
          <p:cNvSpPr/>
          <p:nvPr/>
        </p:nvSpPr>
        <p:spPr>
          <a:xfrm>
            <a:off x="1090613" y="6544389"/>
            <a:ext cx="5861209" cy="77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54"/>
              </a:lnSpc>
              <a:buNone/>
            </a:pPr>
            <a:r>
              <a:rPr lang="en-US" sz="1909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1000 miles / 30 MPG = 33.33 gallons. 33.33 gallons * $4.4 = $146.65.</a:t>
            </a:r>
            <a:endParaRPr lang="en-US" sz="1909" dirty="0"/>
          </a:p>
        </p:txBody>
      </p:sp>
      <p:sp>
        <p:nvSpPr>
          <p:cNvPr id="17" name="Shape 15"/>
          <p:cNvSpPr/>
          <p:nvPr/>
        </p:nvSpPr>
        <p:spPr>
          <a:xfrm>
            <a:off x="7436406" y="4857036"/>
            <a:ext cx="6345793" cy="2705219"/>
          </a:xfrm>
          <a:prstGeom prst="roundRect">
            <a:avLst>
              <a:gd name="adj" fmla="val 5376"/>
            </a:avLst>
          </a:prstGeom>
          <a:solidFill>
            <a:srgbClr val="DEE7F7"/>
          </a:solidFill>
          <a:ln/>
        </p:spPr>
      </p:sp>
      <p:sp>
        <p:nvSpPr>
          <p:cNvPr id="18" name="Text 16"/>
          <p:cNvSpPr/>
          <p:nvPr/>
        </p:nvSpPr>
        <p:spPr>
          <a:xfrm>
            <a:off x="7678698" y="5099328"/>
            <a:ext cx="3029903" cy="3787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982"/>
              </a:lnSpc>
              <a:buNone/>
            </a:pPr>
            <a:r>
              <a:rPr lang="en-US" sz="2386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Cost Per Person</a:t>
            </a:r>
            <a:endParaRPr lang="en-US" sz="2386" dirty="0"/>
          </a:p>
        </p:txBody>
      </p:sp>
      <p:sp>
        <p:nvSpPr>
          <p:cNvPr id="19" name="Text 17"/>
          <p:cNvSpPr/>
          <p:nvPr/>
        </p:nvSpPr>
        <p:spPr>
          <a:xfrm>
            <a:off x="7678698" y="5623441"/>
            <a:ext cx="5861209" cy="77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54"/>
              </a:lnSpc>
              <a:buNone/>
            </a:pPr>
            <a:r>
              <a:rPr lang="en-US" sz="1909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the total trip cost by the number of travelers to determine the cost per person.</a:t>
            </a:r>
            <a:endParaRPr lang="en-US" sz="1909" dirty="0"/>
          </a:p>
        </p:txBody>
      </p:sp>
      <p:sp>
        <p:nvSpPr>
          <p:cNvPr id="20" name="Text 18"/>
          <p:cNvSpPr/>
          <p:nvPr/>
        </p:nvSpPr>
        <p:spPr>
          <a:xfrm>
            <a:off x="7678698" y="6544389"/>
            <a:ext cx="5861209" cy="38778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054"/>
              </a:lnSpc>
              <a:buNone/>
            </a:pPr>
            <a:r>
              <a:rPr lang="en-US" sz="1909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$146.65 / 3 = $48.88 per person</a:t>
            </a:r>
            <a:endParaRPr lang="en-US" sz="1909" dirty="0"/>
          </a:p>
        </p:txBody>
      </p:sp>
      <p:pic>
        <p:nvPicPr>
          <p:cNvPr id="21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6742331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2594967" y="475178"/>
            <a:ext cx="4320540" cy="540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4253"/>
              </a:lnSpc>
              <a:buNone/>
            </a:pPr>
            <a:r>
              <a:rPr lang="en-US" sz="3402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Recomended Parks</a:t>
            </a:r>
            <a:endParaRPr lang="en-US" sz="3402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4967" y="1360884"/>
            <a:ext cx="2973943" cy="1837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94967" y="3414832"/>
            <a:ext cx="2973943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Lassen Volcanic National Park</a:t>
            </a:r>
            <a:endParaRPr lang="en-US" sz="1361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109" y="1360884"/>
            <a:ext cx="2973943" cy="1837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28109" y="3414832"/>
            <a:ext cx="2973943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Pinnacles National Park</a:t>
            </a:r>
            <a:endParaRPr lang="en-US" sz="1361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252" y="1360884"/>
            <a:ext cx="2974062" cy="18380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61252" y="3414951"/>
            <a:ext cx="2974062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Yosemite National Park</a:t>
            </a:r>
            <a:endParaRPr lang="en-US" sz="1361" dirty="0"/>
          </a:p>
        </p:txBody>
      </p:sp>
      <p:sp>
        <p:nvSpPr>
          <p:cNvPr id="11" name="Text 6"/>
          <p:cNvSpPr/>
          <p:nvPr/>
        </p:nvSpPr>
        <p:spPr>
          <a:xfrm>
            <a:off x="2594967" y="3885843"/>
            <a:ext cx="9440347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2177"/>
              </a:lnSpc>
              <a:buNone/>
            </a:pPr>
            <a:endParaRPr lang="en-US" sz="1361" dirty="0"/>
          </a:p>
        </p:txBody>
      </p:sp>
      <p:sp>
        <p:nvSpPr>
          <p:cNvPr id="12" name="Text 7"/>
          <p:cNvSpPr/>
          <p:nvPr/>
        </p:nvSpPr>
        <p:spPr>
          <a:xfrm>
            <a:off x="2594967" y="4443055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78°F</a:t>
            </a:r>
            <a:endParaRPr lang="en-US" sz="4491" dirty="0"/>
          </a:p>
        </p:txBody>
      </p:sp>
      <p:sp>
        <p:nvSpPr>
          <p:cNvPr id="13" name="Text 8"/>
          <p:cNvSpPr/>
          <p:nvPr/>
        </p:nvSpPr>
        <p:spPr>
          <a:xfrm>
            <a:off x="2594967" y="5229225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Temp</a:t>
            </a:r>
            <a:endParaRPr lang="en-US" sz="1361" dirty="0"/>
          </a:p>
        </p:txBody>
      </p:sp>
      <p:sp>
        <p:nvSpPr>
          <p:cNvPr id="14" name="Text 9"/>
          <p:cNvSpPr/>
          <p:nvPr/>
        </p:nvSpPr>
        <p:spPr>
          <a:xfrm>
            <a:off x="7444740" y="4443055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54°F</a:t>
            </a:r>
            <a:endParaRPr lang="en-US" sz="4491" dirty="0"/>
          </a:p>
        </p:txBody>
      </p:sp>
      <p:sp>
        <p:nvSpPr>
          <p:cNvPr id="15" name="Text 10"/>
          <p:cNvSpPr/>
          <p:nvPr/>
        </p:nvSpPr>
        <p:spPr>
          <a:xfrm>
            <a:off x="7444740" y="5229225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Temp</a:t>
            </a:r>
            <a:endParaRPr lang="en-US" sz="1361" dirty="0"/>
          </a:p>
        </p:txBody>
      </p:sp>
      <p:sp>
        <p:nvSpPr>
          <p:cNvPr id="16" name="Text 11"/>
          <p:cNvSpPr/>
          <p:nvPr/>
        </p:nvSpPr>
        <p:spPr>
          <a:xfrm>
            <a:off x="2594967" y="6110526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380</a:t>
            </a:r>
            <a:endParaRPr lang="en-US" sz="4491" dirty="0"/>
          </a:p>
        </p:txBody>
      </p:sp>
      <p:sp>
        <p:nvSpPr>
          <p:cNvPr id="17" name="Text 12"/>
          <p:cNvSpPr/>
          <p:nvPr/>
        </p:nvSpPr>
        <p:spPr>
          <a:xfrm>
            <a:off x="2594967" y="6896695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</a:t>
            </a:r>
            <a:endParaRPr lang="en-US" sz="1361" dirty="0"/>
          </a:p>
        </p:txBody>
      </p:sp>
      <p:sp>
        <p:nvSpPr>
          <p:cNvPr id="18" name="Text 13"/>
          <p:cNvSpPr/>
          <p:nvPr/>
        </p:nvSpPr>
        <p:spPr>
          <a:xfrm>
            <a:off x="7444740" y="6110526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$27.85</a:t>
            </a:r>
            <a:endParaRPr lang="en-US" sz="4491" dirty="0"/>
          </a:p>
        </p:txBody>
      </p:sp>
      <p:sp>
        <p:nvSpPr>
          <p:cNvPr id="19" name="Text 14"/>
          <p:cNvSpPr/>
          <p:nvPr/>
        </p:nvSpPr>
        <p:spPr>
          <a:xfrm>
            <a:off x="7444740" y="6896695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Person</a:t>
            </a:r>
            <a:endParaRPr lang="en-US" sz="1361" dirty="0"/>
          </a:p>
        </p:txBody>
      </p:sp>
      <p:sp>
        <p:nvSpPr>
          <p:cNvPr id="20" name="Text 15"/>
          <p:cNvSpPr/>
          <p:nvPr/>
        </p:nvSpPr>
        <p:spPr>
          <a:xfrm>
            <a:off x="2594967" y="7367588"/>
            <a:ext cx="9440347" cy="8297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Yosemite's temperate climate, with highs around 78°F and lows near 54°F, offers the perfect conditions for exploring the park's vast network of hiking trails and taking in the natural beauty. The 380-mile round trip distance from our starting point in Fremont makes Yosemite an accessible and cost-effective destination at just $27.85 per person.</a:t>
            </a:r>
            <a:endParaRPr lang="en-US" sz="1361" dirty="0"/>
          </a:p>
        </p:txBody>
      </p:sp>
      <p:sp>
        <p:nvSpPr>
          <p:cNvPr id="21" name="Text 16"/>
          <p:cNvSpPr/>
          <p:nvPr/>
        </p:nvSpPr>
        <p:spPr>
          <a:xfrm>
            <a:off x="2594967" y="8477964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72°F</a:t>
            </a:r>
            <a:endParaRPr lang="en-US" sz="4491" dirty="0"/>
          </a:p>
        </p:txBody>
      </p:sp>
      <p:sp>
        <p:nvSpPr>
          <p:cNvPr id="22" name="Text 17"/>
          <p:cNvSpPr/>
          <p:nvPr/>
        </p:nvSpPr>
        <p:spPr>
          <a:xfrm>
            <a:off x="2594967" y="9264134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Temp</a:t>
            </a:r>
            <a:endParaRPr lang="en-US" sz="1361" dirty="0"/>
          </a:p>
        </p:txBody>
      </p:sp>
      <p:sp>
        <p:nvSpPr>
          <p:cNvPr id="23" name="Text 18"/>
          <p:cNvSpPr/>
          <p:nvPr/>
        </p:nvSpPr>
        <p:spPr>
          <a:xfrm>
            <a:off x="7444740" y="8477964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50°F</a:t>
            </a:r>
            <a:endParaRPr lang="en-US" sz="4491" dirty="0"/>
          </a:p>
        </p:txBody>
      </p:sp>
      <p:sp>
        <p:nvSpPr>
          <p:cNvPr id="24" name="Text 19"/>
          <p:cNvSpPr/>
          <p:nvPr/>
        </p:nvSpPr>
        <p:spPr>
          <a:xfrm>
            <a:off x="7444740" y="9264134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Temp</a:t>
            </a:r>
            <a:endParaRPr lang="en-US" sz="1361" dirty="0"/>
          </a:p>
        </p:txBody>
      </p:sp>
      <p:sp>
        <p:nvSpPr>
          <p:cNvPr id="25" name="Text 20"/>
          <p:cNvSpPr/>
          <p:nvPr/>
        </p:nvSpPr>
        <p:spPr>
          <a:xfrm>
            <a:off x="2594967" y="10145435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500</a:t>
            </a:r>
            <a:endParaRPr lang="en-US" sz="4491" dirty="0"/>
          </a:p>
        </p:txBody>
      </p:sp>
      <p:sp>
        <p:nvSpPr>
          <p:cNvPr id="26" name="Text 21"/>
          <p:cNvSpPr/>
          <p:nvPr/>
        </p:nvSpPr>
        <p:spPr>
          <a:xfrm>
            <a:off x="2594967" y="10931604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</a:t>
            </a:r>
            <a:endParaRPr lang="en-US" sz="1361" dirty="0"/>
          </a:p>
        </p:txBody>
      </p:sp>
      <p:sp>
        <p:nvSpPr>
          <p:cNvPr id="27" name="Text 22"/>
          <p:cNvSpPr/>
          <p:nvPr/>
        </p:nvSpPr>
        <p:spPr>
          <a:xfrm>
            <a:off x="7444740" y="10145435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$36.65</a:t>
            </a:r>
            <a:endParaRPr lang="en-US" sz="4491" dirty="0"/>
          </a:p>
        </p:txBody>
      </p:sp>
      <p:sp>
        <p:nvSpPr>
          <p:cNvPr id="28" name="Text 23"/>
          <p:cNvSpPr/>
          <p:nvPr/>
        </p:nvSpPr>
        <p:spPr>
          <a:xfrm>
            <a:off x="7444740" y="10931604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Person</a:t>
            </a:r>
            <a:endParaRPr lang="en-US" sz="1361" dirty="0"/>
          </a:p>
        </p:txBody>
      </p:sp>
      <p:sp>
        <p:nvSpPr>
          <p:cNvPr id="29" name="Text 24"/>
          <p:cNvSpPr/>
          <p:nvPr/>
        </p:nvSpPr>
        <p:spPr>
          <a:xfrm>
            <a:off x="2594967" y="11402497"/>
            <a:ext cx="9440347" cy="8297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Lassen Volcanic National Park, located in Northern California, offers a unique geothermal landscape with steaming fumaroles, boiling mud pots, and stunning volcanic peaks. With a round trip distance of 500 miles and average temperatures ranging from 72°F to 50°F, Lassen is a slightly more distant but still accessible option at $36.65 per person.</a:t>
            </a:r>
            <a:endParaRPr lang="en-US" sz="1361" dirty="0"/>
          </a:p>
        </p:txBody>
      </p:sp>
      <p:sp>
        <p:nvSpPr>
          <p:cNvPr id="30" name="Text 25"/>
          <p:cNvSpPr/>
          <p:nvPr/>
        </p:nvSpPr>
        <p:spPr>
          <a:xfrm>
            <a:off x="2594967" y="12512873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85°F</a:t>
            </a:r>
            <a:endParaRPr lang="en-US" sz="4491" dirty="0"/>
          </a:p>
        </p:txBody>
      </p:sp>
      <p:sp>
        <p:nvSpPr>
          <p:cNvPr id="31" name="Text 26"/>
          <p:cNvSpPr/>
          <p:nvPr/>
        </p:nvSpPr>
        <p:spPr>
          <a:xfrm>
            <a:off x="2594967" y="13299043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Temp</a:t>
            </a:r>
            <a:endParaRPr lang="en-US" sz="1361" dirty="0"/>
          </a:p>
        </p:txBody>
      </p:sp>
      <p:sp>
        <p:nvSpPr>
          <p:cNvPr id="32" name="Text 27"/>
          <p:cNvSpPr/>
          <p:nvPr/>
        </p:nvSpPr>
        <p:spPr>
          <a:xfrm>
            <a:off x="7444740" y="12512873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65°F</a:t>
            </a:r>
            <a:endParaRPr lang="en-US" sz="4491" dirty="0"/>
          </a:p>
        </p:txBody>
      </p:sp>
      <p:sp>
        <p:nvSpPr>
          <p:cNvPr id="33" name="Text 28"/>
          <p:cNvSpPr/>
          <p:nvPr/>
        </p:nvSpPr>
        <p:spPr>
          <a:xfrm>
            <a:off x="7444740" y="13299043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Temp</a:t>
            </a:r>
            <a:endParaRPr lang="en-US" sz="1361" dirty="0"/>
          </a:p>
        </p:txBody>
      </p:sp>
      <p:sp>
        <p:nvSpPr>
          <p:cNvPr id="34" name="Text 29"/>
          <p:cNvSpPr/>
          <p:nvPr/>
        </p:nvSpPr>
        <p:spPr>
          <a:xfrm>
            <a:off x="2594967" y="14180344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180</a:t>
            </a:r>
            <a:endParaRPr lang="en-US" sz="4491" dirty="0"/>
          </a:p>
        </p:txBody>
      </p:sp>
      <p:sp>
        <p:nvSpPr>
          <p:cNvPr id="35" name="Text 30"/>
          <p:cNvSpPr/>
          <p:nvPr/>
        </p:nvSpPr>
        <p:spPr>
          <a:xfrm>
            <a:off x="2594967" y="14966513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</a:t>
            </a:r>
            <a:endParaRPr lang="en-US" sz="1361" dirty="0"/>
          </a:p>
        </p:txBody>
      </p:sp>
      <p:sp>
        <p:nvSpPr>
          <p:cNvPr id="36" name="Text 31"/>
          <p:cNvSpPr/>
          <p:nvPr/>
        </p:nvSpPr>
        <p:spPr>
          <a:xfrm>
            <a:off x="7444740" y="14180344"/>
            <a:ext cx="4590574" cy="5703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4491"/>
              </a:lnSpc>
              <a:buNone/>
            </a:pPr>
            <a:r>
              <a:rPr lang="en-US" sz="4491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$13.20</a:t>
            </a:r>
            <a:endParaRPr lang="en-US" sz="4491" dirty="0"/>
          </a:p>
        </p:txBody>
      </p:sp>
      <p:sp>
        <p:nvSpPr>
          <p:cNvPr id="37" name="Text 32"/>
          <p:cNvSpPr/>
          <p:nvPr/>
        </p:nvSpPr>
        <p:spPr>
          <a:xfrm>
            <a:off x="7444740" y="14966513"/>
            <a:ext cx="4590574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Person</a:t>
            </a:r>
            <a:endParaRPr lang="en-US" sz="1361" dirty="0"/>
          </a:p>
        </p:txBody>
      </p:sp>
      <p:sp>
        <p:nvSpPr>
          <p:cNvPr id="38" name="Text 33"/>
          <p:cNvSpPr/>
          <p:nvPr/>
        </p:nvSpPr>
        <p:spPr>
          <a:xfrm>
            <a:off x="2594967" y="15437406"/>
            <a:ext cx="9440347" cy="8297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77"/>
              </a:lnSpc>
              <a:buNone/>
            </a:pPr>
            <a:r>
              <a:rPr lang="en-US" sz="136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Pinnacles National Park, situated in Central California, offers a unique landscape of towering rock formations and diverse wildlife. With a round trip distance of just 180 miles and average temperatures ranging from 85°F to 65°F, Pinnacles is a more compact and cost-effective option at $13.20 per person.</a:t>
            </a:r>
            <a:endParaRPr lang="en-US" sz="1361" dirty="0"/>
          </a:p>
        </p:txBody>
      </p:sp>
      <p:pic>
        <p:nvPicPr>
          <p:cNvPr id="39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2707600"/>
            <a:ext cx="6292215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6075"/>
              </a:lnSpc>
              <a:buNone/>
            </a:pPr>
            <a:r>
              <a:rPr lang="en-US" sz="486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Other Enhancements:</a:t>
            </a:r>
            <a:endParaRPr lang="en-US" sz="4860" dirty="0"/>
          </a:p>
        </p:txBody>
      </p:sp>
      <p:sp>
        <p:nvSpPr>
          <p:cNvPr id="5" name="Text 3"/>
          <p:cNvSpPr/>
          <p:nvPr/>
        </p:nvSpPr>
        <p:spPr>
          <a:xfrm>
            <a:off x="1258967" y="3972878"/>
            <a:ext cx="1250739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Font typeface="+mj-lt"/>
              <a:buAutoNum type="arabicPeriod" startAt="1"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 brief into about the recomeded parks. </a:t>
            </a:r>
            <a:endParaRPr lang="en-US" sz="1944" dirty="0"/>
          </a:p>
        </p:txBody>
      </p:sp>
      <p:sp>
        <p:nvSpPr>
          <p:cNvPr id="6" name="Text 4"/>
          <p:cNvSpPr/>
          <p:nvPr/>
        </p:nvSpPr>
        <p:spPr>
          <a:xfrm>
            <a:off x="1258967" y="4454247"/>
            <a:ext cx="1250739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marL="342900" indent="-342900">
              <a:lnSpc>
                <a:spcPts val="3110"/>
              </a:lnSpc>
              <a:buSzPct val="100000"/>
              <a:buFont typeface="+mj-lt"/>
              <a:buAutoNum type="arabicPeriod" startAt="2"/>
            </a:pPr>
            <a:r>
              <a:rPr lang="en-US" sz="1944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 essentials to packl based on activities users are instrested in. </a:t>
            </a:r>
            <a:endParaRPr lang="en-US" sz="1944" dirty="0"/>
          </a:p>
        </p:txBody>
      </p:sp>
      <p:sp>
        <p:nvSpPr>
          <p:cNvPr id="7" name="Text 5"/>
          <p:cNvSpPr/>
          <p:nvPr/>
        </p:nvSpPr>
        <p:spPr>
          <a:xfrm>
            <a:off x="864037" y="5126950"/>
            <a:ext cx="129023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110"/>
              </a:lnSpc>
              <a:buNone/>
            </a:pPr>
            <a:endParaRPr lang="en-US" sz="1944" dirty="0"/>
          </a:p>
        </p:txBody>
      </p:sp>
      <p:pic>
        <p:nvPicPr>
          <p:cNvPr id="8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3729038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6075"/>
              </a:lnSpc>
              <a:buNone/>
            </a:pPr>
            <a:endParaRPr lang="en-US" sz="4860" dirty="0"/>
          </a:p>
        </p:txBody>
      </p:sp>
      <p:pic>
        <p:nvPicPr>
          <p:cNvPr id="5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sp>
        <p:nvSpPr>
          <p:cNvPr id="4" name="Text 2"/>
          <p:cNvSpPr/>
          <p:nvPr/>
        </p:nvSpPr>
        <p:spPr>
          <a:xfrm>
            <a:off x="864037" y="3284577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6075"/>
              </a:lnSpc>
              <a:buNone/>
            </a:pPr>
            <a:r>
              <a:rPr lang="en-US" sz="4860" dirty="0">
                <a:solidFill>
                  <a:srgbClr val="476FD6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 </a:t>
            </a:r>
            <a:endParaRPr lang="en-US" sz="4860" dirty="0"/>
          </a:p>
        </p:txBody>
      </p:sp>
      <p:sp>
        <p:nvSpPr>
          <p:cNvPr id="5" name="Text 3"/>
          <p:cNvSpPr/>
          <p:nvPr/>
        </p:nvSpPr>
        <p:spPr>
          <a:xfrm>
            <a:off x="864037" y="4549854"/>
            <a:ext cx="12902327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ts val="3110"/>
              </a:lnSpc>
              <a:buNone/>
            </a:pPr>
            <a:endParaRPr lang="en-US" sz="1944" dirty="0"/>
          </a:p>
        </p:txBody>
      </p:sp>
      <p:pic>
        <p:nvPicPr>
          <p:cNvPr id="6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2024-07-02T18:15:08Z</dcterms:created>
  <dcterms:modified xsi:type="dcterms:W3CDTF">2024-07-02T18:15:08Z</dcterms:modified>
</cp:coreProperties>
</file>